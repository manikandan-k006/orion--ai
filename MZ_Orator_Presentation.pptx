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371600"/>
            <a:ext cx="9418320" cy="4114800"/>
          </a:xfrm>
          <a:prstGeom prst="roundRect">
            <a:avLst/>
          </a:prstGeom>
          <a:solidFill>
            <a:srgbClr val="1A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1828800"/>
            <a:ext cx="7589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MZ ORATOR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74320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59E0B"/>
                </a:solidFill>
              </a:defRPr>
            </a:pPr>
            <a:r>
              <a:t>AI-Powered Group Discussion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47472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8EA4"/>
                </a:solidFill>
              </a:defRPr>
            </a:pPr>
            <a:r>
              <a:t>Mount Zion College of Engineering and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411480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AC0DE"/>
                </a:solidFill>
              </a:defRPr>
            </a:pPr>
            <a:r>
              <a:t>Department of Information Technology | 3rd Year | 2025-2026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11247120" cy="1097280"/>
          </a:xfrm>
          <a:prstGeom prst="roundRect">
            <a:avLst/>
          </a:prstGeom>
          <a:solidFill>
            <a:srgbClr val="1A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8EA4"/>
                </a:solidFill>
              </a:defRPr>
            </a:pPr>
            <a:r>
              <a:t>What is MZ Orator?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515600" cy="4572000"/>
          </a:xfrm>
          <a:prstGeom prst="roundRect">
            <a:avLst/>
          </a:prstGeom>
          <a:solidFill>
            <a:srgbClr val="1A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</a:defRPr>
            </a:pPr>
            <a:r>
              <a:t>Key Highlights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C0DE"/>
                </a:solidFill>
              </a:defRPr>
            </a:pPr>
            <a:r>
              <a:t>  AI-powered platform for Group Discussion evaluation and practice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0604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C0DE"/>
                </a:solidFill>
              </a:defRPr>
            </a:pPr>
            <a:r>
              <a:t>  Students can create/join GD sessions, practice solo, and track progress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2608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C0DE"/>
                </a:solidFill>
              </a:defRPr>
            </a:pPr>
            <a:r>
              <a:t>  Automated speech evaluation using AI (fluency, grammar, pronunciation, confidence)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4612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C0DE"/>
                </a:solidFill>
              </a:defRPr>
            </a:pPr>
            <a:r>
              <a:t>  Real-time scoring, leaderboards, and credential points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56616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C0DE"/>
                </a:solidFill>
              </a:defRPr>
            </a:pPr>
            <a:r>
              <a:t>  Built for Mount Zion College of Engineering and Technology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88620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C0DE"/>
                </a:solidFill>
              </a:defRPr>
            </a:pPr>
            <a:r>
              <a:t>  Serves 61 IT students with role-based 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0624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C0DE"/>
                </a:solidFill>
              </a:defRPr>
            </a:pPr>
            <a:r>
              <a:t>  Glassmorphism UI with animated backgrounds and responsive design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11247120" cy="1097280"/>
          </a:xfrm>
          <a:prstGeom prst="roundRect">
            <a:avLst/>
          </a:prstGeom>
          <a:solidFill>
            <a:srgbClr val="1A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Core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74720" cy="2103120"/>
          </a:xfrm>
          <a:prstGeom prst="roundRect">
            <a:avLst/>
          </a:prstGeom>
          <a:solidFill>
            <a:srgbClr val="1A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</a:defRPr>
            </a:pPr>
            <a:r>
              <a:t>GD Sessions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C0DE"/>
                </a:solidFill>
              </a:defRPr>
            </a:pPr>
            <a:r>
              <a:t>Create/join sessions, invite teammates, real-time timer, live recording &amp; transcription, AI evaluation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1645920"/>
            <a:ext cx="3474720" cy="2103120"/>
          </a:xfrm>
          <a:prstGeom prst="roundRect">
            <a:avLst/>
          </a:prstGeom>
          <a:solidFill>
            <a:srgbClr val="1A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79" y="1828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</a:defRPr>
            </a:pPr>
            <a:r>
              <a:t>Solo Practice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79" y="228600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C0DE"/>
                </a:solidFill>
              </a:defRPr>
            </a:pPr>
            <a:r>
              <a:t>Random topics, 4-min prep + 10-min speaking, motivational quotes, detailed feedback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74720" cy="2103120"/>
          </a:xfrm>
          <a:prstGeom prst="roundRect">
            <a:avLst/>
          </a:prstGeom>
          <a:solidFill>
            <a:srgbClr val="1A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828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</a:defRPr>
            </a:pPr>
            <a:r>
              <a:t>Leaderboard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C0DE"/>
                </a:solidFill>
              </a:defRPr>
            </a:pPr>
            <a:r>
              <a:t>Comprehensive rankings, department/year filters, all-time achievers, credential points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14800"/>
            <a:ext cx="3474720" cy="2103120"/>
          </a:xfrm>
          <a:prstGeom prst="roundRect">
            <a:avLst/>
          </a:prstGeom>
          <a:solidFill>
            <a:srgbClr val="1A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297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</a:defRPr>
            </a:pPr>
            <a:r>
              <a:t>Invitation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75488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C0DE"/>
                </a:solidFill>
              </a:defRPr>
            </a:pPr>
            <a:r>
              <a:t>Invite up to 5 members, email notifications via SendGrid, accept/decline workflow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59" y="4114800"/>
            <a:ext cx="3474720" cy="2103120"/>
          </a:xfrm>
          <a:prstGeom prst="roundRect">
            <a:avLst/>
          </a:prstGeom>
          <a:solidFill>
            <a:srgbClr val="1A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79" y="4297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</a:defRPr>
            </a:pPr>
            <a:r>
              <a:t>Session Lock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79" y="475488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C0DE"/>
                </a:solidFill>
              </a:defRPr>
            </a:pPr>
            <a:r>
              <a:t>Blocks navigation, warns on tab switch, voice alerts, prevents distractions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4114800"/>
            <a:ext cx="3474720" cy="2103120"/>
          </a:xfrm>
          <a:prstGeom prst="roundRect">
            <a:avLst/>
          </a:prstGeom>
          <a:solidFill>
            <a:srgbClr val="1A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4297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</a:defRPr>
            </a:pPr>
            <a:r>
              <a:t>Voice Assistant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475488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C0DE"/>
                </a:solidFill>
              </a:defRPr>
            </a:pPr>
            <a:r>
              <a:t>Text-to-speech for topic announcements, recording status, timer alerts, motivational phrases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11247120" cy="1097280"/>
          </a:xfrm>
          <a:prstGeom prst="roundRect">
            <a:avLst/>
          </a:prstGeom>
          <a:solidFill>
            <a:srgbClr val="1A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651760" cy="4572000"/>
          </a:xfrm>
          <a:prstGeom prst="roundRect">
            <a:avLst/>
          </a:prstGeom>
          <a:solidFill>
            <a:srgbClr val="1A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9E0B"/>
                </a:solidFill>
              </a:defRPr>
            </a:pPr>
            <a: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C0DE"/>
                </a:solidFill>
              </a:defRPr>
            </a:pPr>
            <a:r>
              <a:t>  Next.js 14 (React)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249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C0DE"/>
                </a:solidFill>
              </a:defRPr>
            </a:pPr>
            <a:r>
              <a:t>  TypeScript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7238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C0DE"/>
                </a:solidFill>
              </a:defRPr>
            </a:pPr>
            <a:r>
              <a:t>  Tailwind CSS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1985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C0DE"/>
                </a:solidFill>
              </a:defRPr>
            </a:pPr>
            <a:r>
              <a:t>  Recharts (charts)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673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C0DE"/>
                </a:solidFill>
              </a:defRPr>
            </a:pPr>
            <a:r>
              <a:t>  Lucide Icons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C0DE"/>
                </a:solidFill>
              </a:defRPr>
            </a:pPr>
            <a:r>
              <a:t>  Web Speech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4622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C0DE"/>
                </a:solidFill>
              </a:defRPr>
            </a:pPr>
            <a:r>
              <a:t>  Web Audio 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1645920"/>
            <a:ext cx="2651760" cy="4572000"/>
          </a:xfrm>
          <a:prstGeom prst="roundRect">
            <a:avLst/>
          </a:prstGeom>
          <a:solidFill>
            <a:srgbClr val="1A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9E0B"/>
                </a:solidFill>
              </a:defRPr>
            </a:pPr>
            <a:r>
              <a:t>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C0DE"/>
                </a:solidFill>
              </a:defRPr>
            </a:pPr>
            <a:r>
              <a:t>  Python 3.12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7249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C0DE"/>
                </a:solidFill>
              </a:defRPr>
            </a:pPr>
            <a:r>
              <a:t>  FastAPI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307238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C0DE"/>
                </a:solidFill>
              </a:defRPr>
            </a:pPr>
            <a:r>
              <a:t>  Uvicorn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341985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C0DE"/>
                </a:solidFill>
              </a:defRPr>
            </a:pPr>
            <a:r>
              <a:t>  JWT Authentication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37673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C0DE"/>
                </a:solidFill>
              </a:defRPr>
            </a:pPr>
            <a:r>
              <a:t>  mysql-connector-python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C0DE"/>
                </a:solidFill>
              </a:defRPr>
            </a:pPr>
            <a:r>
              <a:t>  Pydantic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44622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C0DE"/>
                </a:solidFill>
              </a:defRPr>
            </a:pPr>
            <a:r>
              <a:t>  SendGrid SDK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1645920"/>
            <a:ext cx="2651760" cy="4572000"/>
          </a:xfrm>
          <a:prstGeom prst="roundRect">
            <a:avLst/>
          </a:prstGeom>
          <a:solidFill>
            <a:srgbClr val="1A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9E0B"/>
                </a:solidFill>
              </a:defRPr>
            </a:pPr>
            <a:r>
              <a:t>Database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C0DE"/>
                </a:solidFill>
              </a:defRPr>
            </a:pPr>
            <a:r>
              <a:t>  MySQL 8.0 (Aiven Cloud)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27249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C0DE"/>
                </a:solidFill>
              </a:defRPr>
            </a:pPr>
            <a:r>
              <a:t>  17 Tables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07238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C0DE"/>
                </a:solidFill>
              </a:defRPr>
            </a:pPr>
            <a:r>
              <a:t>  Foreign Keys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341985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C0DE"/>
                </a:solidFill>
              </a:defRPr>
            </a:pPr>
            <a:r>
              <a:t>  Indexed Queries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37673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C0DE"/>
                </a:solidFill>
              </a:defRPr>
            </a:pPr>
            <a:r>
              <a:t>  Stored Procedures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09760" y="1645920"/>
            <a:ext cx="2651760" cy="4572000"/>
          </a:xfrm>
          <a:prstGeom prst="roundRect">
            <a:avLst/>
          </a:prstGeom>
          <a:solidFill>
            <a:srgbClr val="1A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9264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9E0B"/>
                </a:solidFill>
              </a:defRPr>
            </a:pPr>
            <a:r>
              <a:t>DevOps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C0DE"/>
                </a:solidFill>
              </a:defRPr>
            </a:pPr>
            <a:r>
              <a:t>  GitHub (Version Control)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0" y="27249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C0DE"/>
                </a:solidFill>
              </a:defRPr>
            </a:pPr>
            <a:r>
              <a:t>  Render (Backend Hosting)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307238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C0DE"/>
                </a:solidFill>
              </a:defRPr>
            </a:pPr>
            <a:r>
              <a:t>  Vercel (Frontend Hosting)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0" y="341985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C0DE"/>
                </a:solidFill>
              </a:defRPr>
            </a:pPr>
            <a:r>
              <a:t>  Aiven (MySQL Cloud)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0" y="37673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C0DE"/>
                </a:solidFill>
              </a:defRPr>
            </a:pPr>
            <a:r>
              <a:t>  Cron-job.org (Uptime)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264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C0DE"/>
                </a:solidFill>
              </a:defRPr>
            </a:pPr>
            <a:r>
              <a:t>  SendGrid (Email API)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11247120" cy="1097280"/>
          </a:xfrm>
          <a:prstGeom prst="roundRect">
            <a:avLst/>
          </a:prstGeom>
          <a:solidFill>
            <a:srgbClr val="1A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8EA4"/>
                </a:solidFill>
              </a:defRPr>
            </a:pPr>
            <a:r>
              <a:t>Frontend → Backend → Database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515600" cy="4114800"/>
          </a:xfrm>
          <a:prstGeom prst="roundRect">
            <a:avLst/>
          </a:prstGeom>
          <a:solidFill>
            <a:srgbClr val="1A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</a:defRPr>
            </a:pPr>
            <a:r>
              <a:t>Data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C0DE"/>
                </a:solidFill>
              </a:defRPr>
            </a:pPr>
            <a:r>
              <a:t>  User opens https://orion-ai-gamma.vercel.app (Next.js on Vercel)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0604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C0DE"/>
                </a:solidFill>
              </a:defRPr>
            </a:pPr>
            <a:r>
              <a:t>  Frontend makes API calls to https://orion-ai-2udw.onrender.com (FastAPI on Render)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2608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C0DE"/>
                </a:solidFill>
              </a:defRPr>
            </a:pPr>
            <a:r>
              <a:t>  Backend authenticates via JWT tokens (python-jose)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4612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C0DE"/>
                </a:solidFill>
              </a:defRPr>
            </a:pPr>
            <a:r>
              <a:t>  All data stored in Aiven MySQL cloud database (speaksense_ai)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56616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C0DE"/>
                </a:solidFill>
              </a:defRPr>
            </a:pPr>
            <a:r>
              <a:t>  AI evaluation: transcript sent to backend, analyzed via NLP heuristics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88620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C0DE"/>
                </a:solidFill>
              </a:defRPr>
            </a:pPr>
            <a:r>
              <a:t>  Emails sent through SendGrid API (free tier, 100/day)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0624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C0DE"/>
                </a:solidFill>
              </a:defRPr>
            </a:pPr>
            <a:r>
              <a:t>  Cron-job.org pings /health every 5 min to prevent cold start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5029200"/>
            <a:ext cx="2560320" cy="10972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1206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Vercel</a:t>
            </a:r>
            <a:br/>
            <a:r>
              <a:t>Frontend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5029200"/>
            <a:ext cx="2560320" cy="10972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51206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Render</a:t>
            </a:r>
            <a:br/>
            <a:r>
              <a:t>Backend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5029200"/>
            <a:ext cx="2560320" cy="10972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51206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Aiven</a:t>
            </a:r>
            <a:br/>
            <a:r>
              <a:t>MySQL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11247120" cy="1097280"/>
          </a:xfrm>
          <a:prstGeom prst="roundRect">
            <a:avLst/>
          </a:prstGeom>
          <a:solidFill>
            <a:srgbClr val="1A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Database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8EA4"/>
                </a:solidFill>
              </a:defRPr>
            </a:pPr>
            <a:r>
              <a:t>17 Tables in speaksense_ai (Aiven MySQL)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4572000"/>
          </a:xfrm>
          <a:prstGeom prst="roundRect">
            <a:avLst/>
          </a:prstGeom>
          <a:solidFill>
            <a:srgbClr val="1A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</a:defRPr>
            </a:pPr>
            <a:r>
              <a:t>Core Tables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C0DE"/>
                </a:solidFill>
              </a:defRPr>
            </a:pPr>
            <a:r>
              <a:t>  users (62 students + admin)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0604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C0DE"/>
                </a:solidFill>
              </a:defRPr>
            </a:pPr>
            <a:r>
              <a:t>  student_profile (department, year)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2608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C0DE"/>
                </a:solidFill>
              </a:defRPr>
            </a:pPr>
            <a:r>
              <a:t>  gd_sessions (topic, status, team_size)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4612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C0DE"/>
                </a:solidFill>
              </a:defRPr>
            </a:pPr>
            <a:r>
              <a:t>  gd_topics (15 discussion topics)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56616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C0DE"/>
                </a:solidFill>
              </a:defRPr>
            </a:pPr>
            <a:r>
              <a:t>  gd_team_members (session participants)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88620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C0DE"/>
                </a:solidFill>
              </a:defRPr>
            </a:pPr>
            <a:r>
              <a:t>  gd_invitations (pending/accept/decline)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0624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C0DE"/>
                </a:solidFill>
              </a:defRPr>
            </a:pPr>
            <a:r>
              <a:t>  gd_evaluation (AI scores)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645920"/>
            <a:ext cx="5029200" cy="4572000"/>
          </a:xfrm>
          <a:prstGeom prst="roundRect">
            <a:avLst/>
          </a:prstGeom>
          <a:solidFill>
            <a:srgbClr val="1A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82880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</a:defRPr>
            </a:pPr>
            <a:r>
              <a:t>Supporting Tables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28600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C0DE"/>
                </a:solidFill>
              </a:defRPr>
            </a:pPr>
            <a:r>
              <a:t>  gd_leaderboard (rankings, points)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60604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C0DE"/>
                </a:solidFill>
              </a:defRPr>
            </a:pPr>
            <a:r>
              <a:t>  solo_practice_sessions (solo history)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92608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C0DE"/>
                </a:solidFill>
              </a:defRPr>
            </a:pPr>
            <a:r>
              <a:t>  solo_practice_usage (quote tracking)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24612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C0DE"/>
                </a:solidFill>
              </a:defRPr>
            </a:pPr>
            <a:r>
              <a:t>  motivational_quotes (15 quotes)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56616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C0DE"/>
                </a:solidFill>
              </a:defRPr>
            </a:pPr>
            <a:r>
              <a:t>  interview_session / _response / _questions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88620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C0DE"/>
                </a:solidFill>
              </a:defRPr>
            </a:pPr>
            <a:r>
              <a:t>  ai_analysis (scores, feedback)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20624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C0DE"/>
                </a:solidFill>
              </a:defRPr>
            </a:pPr>
            <a:r>
              <a:t>  progress (aggregate stats)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11247120" cy="1097280"/>
          </a:xfrm>
          <a:prstGeom prst="roundRect">
            <a:avLst/>
          </a:prstGeom>
          <a:solidFill>
            <a:srgbClr val="1A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GD Invitation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8EA4"/>
                </a:solidFill>
              </a:defRPr>
            </a:pPr>
            <a:r>
              <a:t>Real-time email notifications via SendGrid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515600" cy="4114800"/>
          </a:xfrm>
          <a:prstGeom prst="roundRect">
            <a:avLst/>
          </a:prstGeom>
          <a:solidFill>
            <a:srgbClr val="1A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</a:defRPr>
            </a:pPr>
            <a:r>
              <a:t>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C0DE"/>
                </a:solidFill>
              </a:defRPr>
            </a:pPr>
            <a:r>
              <a:t>  1. Host creates GD session → gets unique session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0604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C0DE"/>
                </a:solidFill>
              </a:defRPr>
            </a:pPr>
            <a:r>
              <a:t>  2. Host selects up to 5 teammates from student 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2608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C0DE"/>
                </a:solidFill>
              </a:defRPr>
            </a:pPr>
            <a:r>
              <a:t>  3. Backend creates gd_invitations record (status = 'pending')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4612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C0DE"/>
                </a:solidFill>
              </a:defRPr>
            </a:pPr>
            <a:r>
              <a:t>  4. Email sent to recipient's mountzion.ac.in address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56616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C0DE"/>
                </a:solidFill>
              </a:defRPr>
            </a:pPr>
            <a:r>
              <a:t>  5. Recipient sees 'Received Invitations' on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88620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C0DE"/>
                </a:solidFill>
              </a:defRPr>
            </a:pPr>
            <a:r>
              <a:t>  6. Accept → joins session. Decline → status updated.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0624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C0DE"/>
                </a:solidFill>
              </a:defRPr>
            </a:pPr>
            <a:r>
              <a:t>  7. Max 6 members per session (host + 5 invitees)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52628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C0DE"/>
                </a:solidFill>
              </a:defRPr>
            </a:pPr>
            <a:r>
              <a:t>  8. SendGrid free tier: 100 emails/day, no credit card needed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11247120" cy="1097280"/>
          </a:xfrm>
          <a:prstGeom prst="roundRect">
            <a:avLst/>
          </a:prstGeom>
          <a:solidFill>
            <a:srgbClr val="1A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AI Speech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8EA4"/>
                </a:solidFill>
              </a:defRPr>
            </a:pPr>
            <a:r>
              <a:t>How scoring works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515600" cy="4572000"/>
          </a:xfrm>
          <a:prstGeom prst="roundRect">
            <a:avLst/>
          </a:prstGeom>
          <a:solidFill>
            <a:srgbClr val="1A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</a:defRPr>
            </a:pPr>
            <a:r>
              <a:t>Evaluation Parameters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C0DE"/>
                </a:solidFill>
              </a:defRPr>
            </a:pPr>
            <a:r>
              <a:t>  Grammar Score: Sentence structure analysis, error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0604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C0DE"/>
                </a:solidFill>
              </a:defRPr>
            </a:pPr>
            <a:r>
              <a:t>  Fluency Score: Speech rate, filler words, hesitation patterns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2608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C0DE"/>
                </a:solidFill>
              </a:defRPr>
            </a:pPr>
            <a:r>
              <a:t>  Pronunciation Score: Phonetic accuracy via NLP models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4612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C0DE"/>
                </a:solidFill>
              </a:defRPr>
            </a:pPr>
            <a:r>
              <a:t>  Confidence Score: Tone, pace, and delivery quality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56616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C0DE"/>
                </a:solidFill>
              </a:defRPr>
            </a:pPr>
            <a:r>
              <a:t>  Vocabulary Score: Word diversity and appropriateness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88620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C0DE"/>
                </a:solidFill>
              </a:defRPr>
            </a:pPr>
            <a:r>
              <a:t>  Overall Score: Weighted average of all parameters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0624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C0DE"/>
                </a:solidFill>
              </a:defRPr>
            </a:pPr>
            <a:r>
              <a:t>  Credential Points: Accumulated across sessions for leaderboard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52628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C0DE"/>
                </a:solidFill>
              </a:defRPr>
            </a:pPr>
            <a:r>
              <a:t>  Weaknesses &amp; Tips: Generated automatically based on scores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11247120" cy="1097280"/>
          </a:xfrm>
          <a:prstGeom prst="roundRect">
            <a:avLst/>
          </a:prstGeom>
          <a:solidFill>
            <a:srgbClr val="1A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Solo Practice Mode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8EA4"/>
                </a:solidFill>
              </a:defRPr>
            </a:pPr>
            <a:r>
              <a:t>Independent skill development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515600" cy="4572000"/>
          </a:xfrm>
          <a:prstGeom prst="roundRect">
            <a:avLst/>
          </a:prstGeom>
          <a:solidFill>
            <a:srgbClr val="1A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</a:defRPr>
            </a:pPr>
            <a:r>
              <a:t>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C0DE"/>
                </a:solidFill>
              </a:defRPr>
            </a:pPr>
            <a:r>
              <a:t>  Click 'Start Solo Practice' → random topic + motivational quote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0604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C0DE"/>
                </a:solidFill>
              </a:defRPr>
            </a:pPr>
            <a:r>
              <a:t>  4-minute preparation phase with timer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2608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C0DE"/>
                </a:solidFill>
              </a:defRPr>
            </a:pPr>
            <a:r>
              <a:t>  10-minute speaking phase with recording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4612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C0DE"/>
                </a:solidFill>
              </a:defRPr>
            </a:pPr>
            <a:r>
              <a:t>  Submit transcript for AI evaluation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56616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C0DE"/>
                </a:solidFill>
              </a:defRPr>
            </a:pPr>
            <a:r>
              <a:t>  Get scores: fluency, grammar, pronunciation, delivery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88620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C0DE"/>
                </a:solidFill>
              </a:defRPr>
            </a:pPr>
            <a:r>
              <a:t>  Receive personalized weaknesses &amp; improvement tips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0624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C0DE"/>
                </a:solidFill>
              </a:defRPr>
            </a:pPr>
            <a:r>
              <a:t>  View history of all past solo sessions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52628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C0DE"/>
                </a:solidFill>
              </a:defRPr>
            </a:pPr>
            <a:r>
              <a:t>  Voice announces topic, timer transitions, and motivational phrase on completion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11247120" cy="1097280"/>
          </a:xfrm>
          <a:prstGeom prst="roundRect">
            <a:avLst/>
          </a:prstGeom>
          <a:solidFill>
            <a:srgbClr val="1A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Session Lock &amp; Voice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8EA4"/>
                </a:solidFill>
              </a:defRPr>
            </a:pPr>
            <a:r>
              <a:t>Exam integrity &amp; accessibility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515600" cy="4572000"/>
          </a:xfrm>
          <a:prstGeom prst="roundRect">
            <a:avLst/>
          </a:prstGeom>
          <a:solidFill>
            <a:srgbClr val="1A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</a:defRPr>
            </a:pPr>
            <a:r>
              <a:t>Proctoring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C0DE"/>
                </a:solidFill>
              </a:defRPr>
            </a:pPr>
            <a:r>
              <a:t>  Session Lock activates during GD / Solo practice (prep phase)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0604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C0DE"/>
                </a:solidFill>
              </a:defRPr>
            </a:pPr>
            <a:r>
              <a:t>  Sidebar navigation disabled (buttons grayed out)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2608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C0DE"/>
                </a:solidFill>
              </a:defRPr>
            </a:pPr>
            <a:r>
              <a:t>  Tab switch detection → red warning popup with voice alert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4612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C0DE"/>
                </a:solidFill>
              </a:defRPr>
            </a:pPr>
            <a:r>
              <a:t>  Browser 'beforeunload' prevents accidental tab close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56616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C0DE"/>
                </a:solidFill>
              </a:defRPr>
            </a:pPr>
            <a:r>
              <a:t>  Sign out button disabled during active session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88620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C0DE"/>
                </a:solidFill>
              </a:defRPr>
            </a:pPr>
            <a:r>
              <a:t>  Voice Assistant (Web Speech API, free, no API key):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0624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C0DE"/>
                </a:solidFill>
              </a:defRPr>
            </a:pPr>
            <a:r>
              <a:t>    - 'Your topic is...' on session start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52628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C0DE"/>
                </a:solidFill>
              </a:defRPr>
            </a:pPr>
            <a:r>
              <a:t>    - 'Recording started / stopped' on mic toggle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84632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C0DE"/>
                </a:solidFill>
              </a:defRPr>
            </a:pPr>
            <a:r>
              <a:t>    - 'Preparation time is over...' on timer transition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6636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C0DE"/>
                </a:solidFill>
              </a:defRPr>
            </a:pPr>
            <a:r>
              <a:t>    - Motivational quote on solo completion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11247120" cy="1097280"/>
          </a:xfrm>
          <a:prstGeom prst="roundRect">
            <a:avLst/>
          </a:prstGeom>
          <a:solidFill>
            <a:srgbClr val="1A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User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8EA4"/>
                </a:solidFill>
              </a:defRPr>
            </a:pPr>
            <a:r>
              <a:t>Glassmorphism design, responsive, animated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515600" cy="4572000"/>
          </a:xfrm>
          <a:prstGeom prst="roundRect">
            <a:avLst/>
          </a:prstGeom>
          <a:solidFill>
            <a:srgbClr val="1A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</a:defRPr>
            </a:pPr>
            <a:r>
              <a:t>Screen by Screen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C0DE"/>
                </a:solidFill>
              </a:defRPr>
            </a:pPr>
            <a:r>
              <a:t>  Login: Ken-burns background, glass card, gradient button with shine effect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0604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C0DE"/>
                </a:solidFill>
              </a:defRPr>
            </a:pPr>
            <a:r>
              <a:t>  Dashboard: Stats cards, received invitations, recent sessions 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2608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C0DE"/>
                </a:solidFill>
              </a:defRPr>
            </a:pPr>
            <a:r>
              <a:t>  GD Create: Topic refresh (3 tries), invite teammates with checkboxes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4612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C0DE"/>
                </a:solidFill>
              </a:defRPr>
            </a:pPr>
            <a:r>
              <a:t>  GD Session: Timer, team members, record/submit, motivational quote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56616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C0DE"/>
                </a:solidFill>
              </a:defRPr>
            </a:pPr>
            <a:r>
              <a:t>  Solo Practice: Quote display, preparation notes, recording controls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88620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C0DE"/>
                </a:solidFill>
              </a:defRPr>
            </a:pPr>
            <a:r>
              <a:t>  Leaderboard: Filters (department/year/time), rankings table, radar charts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0624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C0DE"/>
                </a:solidFill>
              </a:defRPr>
            </a:pPr>
            <a:r>
              <a:t>  Solo Result: Score cards, radar chart, weaknesses/tips, history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11247120" cy="1097280"/>
          </a:xfrm>
          <a:prstGeom prst="roundRect">
            <a:avLst/>
          </a:prstGeom>
          <a:solidFill>
            <a:srgbClr val="1A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Deployment &amp; DevOps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515600" cy="4572000"/>
          </a:xfrm>
          <a:prstGeom prst="roundRect">
            <a:avLst/>
          </a:prstGeom>
          <a:solidFill>
            <a:srgbClr val="1A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</a:defRPr>
            </a:pPr>
            <a:r>
              <a:t>Hosting &amp; CI/CD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C0DE"/>
                </a:solidFill>
              </a:defRPr>
            </a:pPr>
            <a:r>
              <a:t>  Frontend: Vercel (auto-deploy from GitHub main branch)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C0DE"/>
                </a:solidFill>
              </a:defRPr>
            </a:pPr>
            <a:r>
              <a:t>  Backend: Render (auto-deploy, Python 3.12, Uvicorn)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2608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C0DE"/>
                </a:solidFill>
              </a:defRPr>
            </a:pPr>
            <a:r>
              <a:t>  Database: Aiven MySQL 8.0 (cloud-hosted, daily backups)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4612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C0DE"/>
                </a:solidFill>
              </a:defRPr>
            </a:pPr>
            <a:r>
              <a:t>  CI/CD: Git push → auto-deploy both frontend &amp; 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56616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C0DE"/>
                </a:solidFill>
              </a:defRPr>
            </a:pPr>
            <a:r>
              <a:t>  Uptime: Cron-job.org pings /health every 5 minutes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88620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C0DE"/>
                </a:solidFill>
              </a:defRPr>
            </a:pPr>
            <a:r>
              <a:t>  Email: SendGrid API (free: 100 emails/day, no credit card)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20624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C0DE"/>
                </a:solidFill>
              </a:defRPr>
            </a:pPr>
            <a:r>
              <a:t>  Env vars managed via Render dashboard (API keys, DB creds)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11247120" cy="1097280"/>
          </a:xfrm>
          <a:prstGeom prst="roundRect">
            <a:avLst/>
          </a:prstGeom>
          <a:solidFill>
            <a:srgbClr val="1A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Challenges &amp; Solutions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515600" cy="4572000"/>
          </a:xfrm>
          <a:prstGeom prst="roundRect">
            <a:avLst/>
          </a:prstGeom>
          <a:solidFill>
            <a:srgbClr val="1A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</a:defRPr>
            </a:pPr>
            <a:r>
              <a:t>Issues &amp; Resolutions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C0DE"/>
                </a:solidFill>
              </a:defRPr>
            </a:pPr>
            <a:r>
              <a:t>  Python 3.14 build failure → Added PYTHON_VERSION=3.12.9 env var on Render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C0DE"/>
                </a:solidFill>
              </a:defRPr>
            </a:pPr>
            <a:r>
              <a:t>  bcrypt C extension crash → Replaced passlib/bcrypt with hashlib.pbkdf2_hmac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2608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C0DE"/>
                </a:solidFill>
              </a:defRPr>
            </a:pPr>
            <a:r>
              <a:t>  ReportLab startup crash → Lazy import inside function body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4612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C0DE"/>
                </a:solidFill>
              </a:defRPr>
            </a:pPr>
            <a:r>
              <a:t>  Double-slash 404 errors → Hardcoded API_URL without trailing slash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56616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C0DE"/>
                </a:solidFill>
              </a:defRPr>
            </a:pPr>
            <a:r>
              <a:t>  Empty quotes table crash → Seeded 15 motivational quotes + null-safe handling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88620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C0DE"/>
                </a:solidFill>
              </a:defRPr>
            </a:pPr>
            <a:r>
              <a:t>  GS.topic column missing → Fixed JOIN to gd_topics instead of gd_sessions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20624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C0DE"/>
                </a:solidFill>
              </a:defRPr>
            </a:pPr>
            <a:r>
              <a:t>  Cold start delays → Cron-job.org pings every 5 minutes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52628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C0DE"/>
                </a:solidFill>
              </a:defRPr>
            </a:pPr>
            <a:r>
              <a:t>  Emails landing in spam → SendGrid sender verification + user whitelisting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86000" y="1371600"/>
            <a:ext cx="7589520" cy="4114800"/>
          </a:xfrm>
          <a:prstGeom prst="roundRect">
            <a:avLst/>
          </a:prstGeom>
          <a:solidFill>
            <a:srgbClr val="1A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2011680"/>
            <a:ext cx="6675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2926080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59E0B"/>
                </a:solidFill>
              </a:defRPr>
            </a:pPr>
            <a:r>
              <a:t>MZ Orator - AI Group Discussion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365760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8EA4"/>
                </a:solidFill>
              </a:defRPr>
            </a:pPr>
            <a:r>
              <a:t>Mount Zion College of Engineering and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420624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AC0DE"/>
                </a:solidFill>
              </a:defRPr>
            </a:pPr>
            <a:r>
              <a:t>Department of Information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475488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0B981"/>
                </a:solidFill>
              </a:defRPr>
            </a:pPr>
            <a:r>
              <a:t>Live: https://orion-ai-gamma.vercel.app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